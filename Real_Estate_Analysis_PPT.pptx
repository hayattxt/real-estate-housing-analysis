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210-4FCC-ABF1-799218CD1562}"/>
              </c:ext>
            </c:extLst>
          </c:dPt>
          <c:dPt>
            <c:idx val="1"/>
            <c:bubble3D val="0"/>
            <c:spPr>
              <a:solidFill>
                <a:srgbClr val="8B0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210-4FCC-ABF1-799218CD1562}"/>
              </c:ext>
            </c:extLst>
          </c:dPt>
          <c:dPt>
            <c:idx val="2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210-4FCC-ABF1-799218CD1562}"/>
              </c:ext>
            </c:extLst>
          </c:dPt>
          <c:dPt>
            <c:idx val="3"/>
            <c:bubble3D val="0"/>
            <c:spPr>
              <a:solidFill>
                <a:srgbClr val="A932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210-4FCC-ABF1-799218CD1562}"/>
              </c:ext>
            </c:extLst>
          </c:dPt>
          <c:dPt>
            <c:idx val="4"/>
            <c:bubble3D val="0"/>
            <c:spPr>
              <a:solidFill>
                <a:srgbClr val="6E2D2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210-4FCC-ABF1-799218CD1562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210-4FCC-ABF1-799218CD1562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210-4FCC-ABF1-799218CD1562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210-4FCC-ABF1-799218CD1562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210-4FCC-ABF1-799218CD1562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210-4FCC-ABF1-799218CD156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Villa</c:v>
                </c:pt>
                <c:pt idx="1">
                  <c:v>Apartment</c:v>
                </c:pt>
                <c:pt idx="2">
                  <c:v>Summerhouse</c:v>
                </c:pt>
                <c:pt idx="3">
                  <c:v>Townhouse</c:v>
                </c:pt>
                <c:pt idx="4">
                  <c:v>Farm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54210</c:v>
                </c:pt>
                <c:pt idx="1">
                  <c:v>19354</c:v>
                </c:pt>
                <c:pt idx="2">
                  <c:v>11339</c:v>
                </c:pt>
                <c:pt idx="3">
                  <c:v>10184</c:v>
                </c:pt>
                <c:pt idx="4">
                  <c:v>4902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B210-4FCC-ABF1-799218CD15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AF5F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SQM Price (DKK)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Apartment</c:v>
                </c:pt>
                <c:pt idx="1">
                  <c:v>Townhouse</c:v>
                </c:pt>
                <c:pt idx="2">
                  <c:v>Summerhouse</c:v>
                </c:pt>
                <c:pt idx="3">
                  <c:v>Farm</c:v>
                </c:pt>
                <c:pt idx="4">
                  <c:v>Villa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25437</c:v>
                </c:pt>
                <c:pt idx="1">
                  <c:v>16526</c:v>
                </c:pt>
                <c:pt idx="2">
                  <c:v>12944</c:v>
                </c:pt>
                <c:pt idx="3">
                  <c:v>9415</c:v>
                </c:pt>
                <c:pt idx="4">
                  <c:v>9109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88D-491D-80EA-05152DC9168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AF5F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000000"/>
                </a:solidFill>
                <a:latin typeface="Arial"/>
              </a:rPr>
              <a:t>SQM Price by Build Era (DKK)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SQM Price (DKK)</c:v>
                </c:pt>
              </c:strCache>
            </c:strRef>
          </c:tx>
          <c:spPr>
            <a:solidFill>
              <a:srgbClr val="8B000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830-448F-ACA4-92064B901B0D}"/>
              </c:ext>
            </c:extLst>
          </c:dPt>
          <c:dPt>
            <c:idx val="1"/>
            <c:invertIfNegative val="0"/>
            <c:bubble3D val="0"/>
            <c:spPr>
              <a:solidFill>
                <a:srgbClr val="A932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830-448F-ACA4-92064B901B0D}"/>
              </c:ext>
            </c:extLst>
          </c:dPt>
          <c:dPt>
            <c:idx val="2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830-448F-ACA4-92064B901B0D}"/>
              </c:ext>
            </c:extLst>
          </c:dPt>
          <c:dPt>
            <c:idx val="3"/>
            <c:invertIfNegative val="0"/>
            <c:bubble3D val="0"/>
            <c:spPr>
              <a:solidFill>
                <a:srgbClr val="CB433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830-448F-ACA4-92064B901B0D}"/>
              </c:ext>
            </c:extLst>
          </c:dPt>
          <c:dPt>
            <c:idx val="4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830-448F-ACA4-92064B901B0D}"/>
              </c:ext>
            </c:extLst>
          </c:dPt>
          <c:dPt>
            <c:idx val="5"/>
            <c:invertIfNegative val="0"/>
            <c:bubble3D val="0"/>
            <c:spPr>
              <a:solidFill>
                <a:srgbClr val="E5707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3830-448F-ACA4-92064B901B0D}"/>
              </c:ext>
            </c:extLst>
          </c:dPt>
          <c:dPt>
            <c:idx val="6"/>
            <c:invertIfNegative val="0"/>
            <c:bubble3D val="0"/>
            <c:spPr>
              <a:solidFill>
                <a:srgbClr val="ECA3A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3830-448F-ACA4-92064B901B0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Modern</c:v>
                </c:pt>
                <c:pt idx="1">
                  <c:v>2000s</c:v>
                </c:pt>
                <c:pt idx="2">
                  <c:v>80-90s</c:v>
                </c:pt>
                <c:pt idx="3">
                  <c:v>1900s</c:v>
                </c:pt>
                <c:pt idx="4">
                  <c:v>Mid-century</c:v>
                </c:pt>
                <c:pt idx="5">
                  <c:v>70s</c:v>
                </c:pt>
                <c:pt idx="6">
                  <c:v>Pre-1900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17348</c:v>
                </c:pt>
                <c:pt idx="1">
                  <c:v>15950</c:v>
                </c:pt>
                <c:pt idx="2">
                  <c:v>13987</c:v>
                </c:pt>
                <c:pt idx="3">
                  <c:v>13014</c:v>
                </c:pt>
                <c:pt idx="4">
                  <c:v>11261</c:v>
                </c:pt>
                <c:pt idx="5">
                  <c:v>10986</c:v>
                </c:pt>
                <c:pt idx="6">
                  <c:v>10154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3830-448F-ACA4-92064B901B0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AF5F5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000" b="0" i="0" u="none" strike="noStrike">
                <a:solidFill>
                  <a:srgbClr val="000000"/>
                </a:solidFill>
                <a:latin typeface="Arial"/>
              </a:rPr>
              <a:t>Zero Negotiation % by Type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Zero Negotiation %</c:v>
                </c:pt>
              </c:strCache>
            </c:strRef>
          </c:tx>
          <c:spPr>
            <a:solidFill>
              <a:srgbClr val="0D737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Farm</c:v>
                </c:pt>
                <c:pt idx="1">
                  <c:v>Apartment</c:v>
                </c:pt>
                <c:pt idx="2">
                  <c:v>Townhouse</c:v>
                </c:pt>
                <c:pt idx="3">
                  <c:v>Villa</c:v>
                </c:pt>
                <c:pt idx="4">
                  <c:v>Summerhouse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80.7</c:v>
                </c:pt>
                <c:pt idx="1">
                  <c:v>69.099999999999994</c:v>
                </c:pt>
                <c:pt idx="2">
                  <c:v>66.400000000000006</c:v>
                </c:pt>
                <c:pt idx="3">
                  <c:v>61.1</c:v>
                </c:pt>
                <c:pt idx="4">
                  <c:v>59.6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CC-4C39-B2CE-4AF056B217B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5FFF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6688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Introduce the project: 100K Danish property transactions analyzed end-to-end using Python, SQL, and Power BI.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5-step pipeline. Emphasize this is a full end-to-end project covering everything from problem scoping to a live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that this is a rich dataset with 100K rows across 32 years, covering everything from property characteristics to macroeconomic indicators. Feature engineering added 7 new analytical columns.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data quality issues and how they were resolved. Emphasize the feature engineering — these derived columns were critical for deeper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the log-normal distribution. This is a key insight: housing prices follow a multiplicative pattern, not additive — percentage changes matter more than absolute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Apartments command the highest SQM price but are the smallest in size — pure location premium. Farms are the opposite: large land area but low per-m²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big takeaways: (1) Modern properties command a ~58% SQM premium over 70s builds — era matters hugely for valuation. (2) Most transactions are non-negotiated, but when they are, the discounts can be massive especially for farms.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 queries grouped into 6 analytical themes. Highlight the advanced SQL used: window functions (LEAD, OVER PARTITION BY) in Q16 and Q17, subqueries in Q12, and CTEs in Q18.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of the most insightful SQL outputs: (1) Apartments are consistently premium across every era, (2) Real interest rates are the strongest macro driver, (3) Aarhus C is the top growth city outside Copenhagen.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KPI row first: 100K, 193Bn, 1.93M avg. Then the price trend chart showing 30-year growth. Finish with the Top 10 cities bar chart — note all top cities are in North Zealand near Copenhagen.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Focus on the Comparison Matrix table top-left — shows all 5 house types side by side. Then the SQM by Era chart confirms modern properties are the most valuable per square meter.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macro dashboard is the most analytically interesting. Lead with the real interest rate vs price chart — 30 years of inverse correlation. The auction discount (25%) is a great talking point for investors.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synthesis slide — all 12 findings in one view. Pick 3-4 to highlight verbally. Suggested: finding 1 (growth), 6 (real rates), 10 (auctions), 11 (Aarhus C growth).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three recommendation themes: where to invest, how to price, and when to move based on macro signals. The real interest rate timing signal is the most actionable insight from this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slide. Update github link with your real username. Mention: this project showcases Python cleaning, SQL with advanced window functions, Power BI dashboard design, and data storytelling skills.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ESTATE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kern="0" spc="100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HOUSING MARKET ANALYSIS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221284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End-to-End Data Analytics Project · Denmark (1992 – 2024)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2743200" cy="475488"/>
          </a:xfrm>
          <a:prstGeom prst="roundRect">
            <a:avLst>
              <a:gd name="adj" fmla="val 15385"/>
            </a:avLst>
          </a:prstGeom>
          <a:solidFill>
            <a:srgbClr val="2E0A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 (Pandas · Matplotlib · Seaborn)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2743200"/>
            <a:ext cx="2743200" cy="475488"/>
          </a:xfrm>
          <a:prstGeom prst="roundRect">
            <a:avLst>
              <a:gd name="adj" fmla="val 15385"/>
            </a:avLst>
          </a:prstGeom>
          <a:solidFill>
            <a:srgbClr val="2E0A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337560" y="274320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 (18 Business Queries)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2743200"/>
            <a:ext cx="2743200" cy="475488"/>
          </a:xfrm>
          <a:prstGeom prst="roundRect">
            <a:avLst>
              <a:gd name="adj" fmla="val 15385"/>
            </a:avLst>
          </a:prstGeom>
          <a:solidFill>
            <a:srgbClr val="2E0A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217920" y="274320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 (3-Page Dashboard)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520440"/>
            <a:ext cx="2011680" cy="1325880"/>
          </a:xfrm>
          <a:prstGeom prst="roundRect">
            <a:avLst>
              <a:gd name="adj" fmla="val 6897"/>
            </a:avLst>
          </a:prstGeom>
          <a:solidFill>
            <a:srgbClr val="2A080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57200" y="36118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100K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41879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60320" y="3520440"/>
            <a:ext cx="2011680" cy="1325880"/>
          </a:xfrm>
          <a:prstGeom prst="roundRect">
            <a:avLst>
              <a:gd name="adj" fmla="val 6897"/>
            </a:avLst>
          </a:prstGeom>
          <a:solidFill>
            <a:srgbClr val="2A080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560320" y="36118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DKK 193Bn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560320" y="41879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Market Value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3520440"/>
            <a:ext cx="2011680" cy="1325880"/>
          </a:xfrm>
          <a:prstGeom prst="roundRect">
            <a:avLst>
              <a:gd name="adj" fmla="val 6897"/>
            </a:avLst>
          </a:prstGeom>
          <a:solidFill>
            <a:srgbClr val="2A080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663440" y="36118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DKK 1.93M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663440" y="41879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Property Price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766560" y="3520440"/>
            <a:ext cx="2011680" cy="1325880"/>
          </a:xfrm>
          <a:prstGeom prst="roundRect">
            <a:avLst>
              <a:gd name="adj" fmla="val 6897"/>
            </a:avLst>
          </a:prstGeom>
          <a:solidFill>
            <a:srgbClr val="2A080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766560" y="36118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 Years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766560" y="41879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Coverage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Analytics Pipeline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DE8E8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Question:  </a:t>
            </a:r>
            <a:r>
              <a:rPr lang="en-US" sz="1100" i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"How can real estate transaction and economic data be leveraged to identify market trends, evaluate investment opportunities, optimize pricing strategies, and support data-driven decision-making?"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2103120"/>
            <a:ext cx="1508760" cy="1417320"/>
          </a:xfrm>
          <a:prstGeom prst="roundRect">
            <a:avLst>
              <a:gd name="adj" fmla="val 7742"/>
            </a:avLst>
          </a:prstGeom>
          <a:solidFill>
            <a:srgbClr val="8B0000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2212848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269748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947672" y="260604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103120" y="2103120"/>
            <a:ext cx="1508760" cy="1417320"/>
          </a:xfrm>
          <a:prstGeom prst="roundRect">
            <a:avLst>
              <a:gd name="adj" fmla="val 7742"/>
            </a:avLst>
          </a:prstGeom>
          <a:solidFill>
            <a:srgbClr val="1565C0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4328" y="2212848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103120" y="269748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639312" y="260604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3794760" y="2103120"/>
            <a:ext cx="1508760" cy="1417320"/>
          </a:xfrm>
          <a:prstGeom prst="roundRect">
            <a:avLst>
              <a:gd name="adj" fmla="val 7742"/>
            </a:avLst>
          </a:prstGeom>
          <a:solidFill>
            <a:srgbClr val="2E7D32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5968" y="2212848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794760" y="269748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5330952" y="260604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0" y="2103120"/>
            <a:ext cx="1508760" cy="1417320"/>
          </a:xfrm>
          <a:prstGeom prst="roundRect">
            <a:avLst>
              <a:gd name="adj" fmla="val 7742"/>
            </a:avLst>
          </a:prstGeom>
          <a:solidFill>
            <a:srgbClr val="6A1B9A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7608" y="2212848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486400" y="269748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7022592" y="260604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7178040" y="2103120"/>
            <a:ext cx="1508760" cy="1417320"/>
          </a:xfrm>
          <a:prstGeom prst="roundRect">
            <a:avLst>
              <a:gd name="adj" fmla="val 7742"/>
            </a:avLst>
          </a:prstGeom>
          <a:solidFill>
            <a:srgbClr val="E65100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99248" y="2212848"/>
            <a:ext cx="457200" cy="4572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178040" y="269748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457200" y="367588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OBJECTIVES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457200" y="393192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top-performing cities, regions, and property types by value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impact of property characteristics (type, size, era) on prices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4572000" y="393192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Examine how macroeconomic factors (inflation, interest rates) drive market cycles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buyer negotiation patterns and emerging investment opportunities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 — Danish Property Transactions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16002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0040" y="1078992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100,000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15087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Rows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29968" y="1005840"/>
            <a:ext cx="16002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029968" y="1078992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029968" y="15087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39896" y="1005840"/>
            <a:ext cx="16002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739896" y="1078992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1992–2024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739896" y="15087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Span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49824" y="1005840"/>
            <a:ext cx="16002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449824" y="1078992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50+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449824" y="15087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159752" y="1005840"/>
            <a:ext cx="16002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159752" y="1078992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159752" y="15087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2103120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EBF5FB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29768" y="2194560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 Info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29768" y="2450592"/>
            <a:ext cx="24323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purchase_price · sqm_price · date · quarter · sales_type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154680" y="2103120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E9F7E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264408" y="2194560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Property Details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64408" y="2450592"/>
            <a:ext cx="24323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house_type · year_build · no_rooms · sqm · house_id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989320" y="2103120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FEF9E7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099048" y="2194560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Geographic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99048" y="2450592"/>
            <a:ext cx="24323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· area · region · zip_code · address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" y="3291840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FDEDEC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29768" y="3383280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Macroeconomic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29768" y="3639312"/>
            <a:ext cx="24323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nom_interest_rate% · dk_ann_infl_rate% · yield_on_mortgage%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154680" y="3291840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F4ECF7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264408" y="3383280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Buyer Behavior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264408" y="3639312"/>
            <a:ext cx="24323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%_change_offer_to_purchase · [engineered] negotiation_gap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89320" y="3291840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EAFAF1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099048" y="3383280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Engineered Features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099048" y="3639312"/>
            <a:ext cx="24323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price_segment · build_era · real_interest_rate · distressed_sale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PREPARATION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Feature Engineering (Python)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02336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🧹  DATA CLEANING STEPS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Loaded data with Pandas · reviewed with df.info() &amp; df.describe()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date inconsistency: 'MM/DD/YY' &amp; 'MM-DD-YY' → standardized DD/MM/YY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Dropped 11 rows with null City values (&lt;0.02% of data)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Imputed dk_ann_infl_rate% &amp; yield% nulls (77 each) with quarterly median of same year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zero duplicate house_id entries after cleaning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Exported clean dataset to MySQL via SQLAlchemy for SQL analysis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02336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84632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ENGINEERED FEATURES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46320" y="14630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price_segment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355080" y="14630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/ Mid / Premium / Luxury / Ultra-Luxury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846320" y="185623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build_era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355080" y="185623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Pre-1900 → 1900s → Mid-century → 70s → 80-90s → 2000s → Modern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846320" y="2249424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sales_season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55080" y="224942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Winter / Spring / Summer / Autumn from date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846320" y="2642616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offer_price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355080" y="264261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Back-calculated from purchase_price + %_change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846320" y="303580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negotiation_gap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355080" y="303580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Absolute DKK difference: purchase – offer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846320" y="34290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real_interest_rate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355080" y="342900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Nominal rate − Annual inflation rate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46320" y="382219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distressed_sale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55080" y="382219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Flag: %_change &lt; −15% (severe price cut)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57200" y="44805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Tools: Python 3 · Pandas · NumPy · SQLAlchemy → MySQL export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— PYTHON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Analysis: Price Distributions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14</a:t>
            </a:r>
            <a:endParaRPr lang="en-US" sz="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60120"/>
            <a:ext cx="5212080" cy="196596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971800"/>
            <a:ext cx="5212080" cy="19659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760720" y="960120"/>
            <a:ext cx="3017520" cy="39776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/>
          <p:nvPr/>
        </p:nvSpPr>
        <p:spPr>
          <a:xfrm>
            <a:off x="5943600" y="105156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5897880" y="1371600"/>
            <a:ext cx="27432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right-skew: most properties priced DKK 0.5M–2M; luxury tail extends to 46M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Log-transformed price shows near-normal distribution — confirms multiplicative pricing structure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SQM price is more consistent (lower variation) than total price — better for cross-property comparisons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is the preferred measure; mean is distorted by luxury outliers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per m² ranges from DKK ~2,000 to 75,000+ reflecting massive location premiums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— PYTHON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House Types &amp; Regional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14</a:t>
            </a:r>
            <a:endParaRPr lang="en-US" sz="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960120"/>
          <a:ext cx="411480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37947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Share by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 Type</a:t>
            </a:r>
            <a:endParaRPr lang="en-US" sz="9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4480560" y="960120"/>
          <a:ext cx="429768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4480560" y="37947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SQM Price (DKK) by House Type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365760" y="429768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FDE8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/>
          <p:nvPr/>
        </p:nvSpPr>
        <p:spPr>
          <a:xfrm>
            <a:off x="365760" y="42976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🏠  Villas = 54% of market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2560320" y="429768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FDE8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2560320" y="42976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  Apartments = highest SQM price (DKK 25,437/m²)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754880" y="429768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FDE8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4754880" y="42976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🌾  Farms = cheapest per m² but largest by size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6949440" y="429768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FDE8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/>
          <p:nvPr/>
        </p:nvSpPr>
        <p:spPr>
          <a:xfrm>
            <a:off x="6949440" y="42976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🌊  Summerhouses = most negotiated segment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— PYTHON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Era Trends &amp; Buyer Negotiation Behaviour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14</a:t>
            </a:r>
            <a:endParaRPr lang="en-US" sz="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960120"/>
          <a:ext cx="429768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4846320" y="960120"/>
          <a:ext cx="393192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365760" y="3794760"/>
            <a:ext cx="20116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/>
          <p:nvPr/>
        </p:nvSpPr>
        <p:spPr>
          <a:xfrm>
            <a:off x="457200" y="385876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 era premium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4133088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DKK 17,348/m² vs 70s era DKK 10,986/m² — 58% gap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2578608" y="3794760"/>
            <a:ext cx="20116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7"/>
          <p:cNvSpPr/>
          <p:nvPr/>
        </p:nvSpPr>
        <p:spPr>
          <a:xfrm>
            <a:off x="2670048" y="385876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64% zero-negotiation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2670048" y="4133088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buyers accept offer price outright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4791456" y="3794760"/>
            <a:ext cx="20116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4882896" y="385876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 deepest discounts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4882896" y="4133088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DKK −237K avg when negotiation occurs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7004304" y="3794760"/>
            <a:ext cx="20116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/>
          <p:nvPr/>
        </p:nvSpPr>
        <p:spPr>
          <a:xfrm>
            <a:off x="7095744" y="385876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Summerhouse = most negotiated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7095744" y="4133088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of sales see a price reduction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ANALYSIS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Analysis — 18 SQL Queries (MySQL)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EBF5FB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29768" y="1097280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Geographic &amp; Pricing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29768" y="1389888"/>
            <a:ext cx="24323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Q1: Top 10 cities by avg purchase price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Q2: Avg SQM price by region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Q8: Largest villa city by SQM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154680" y="100584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E9F7E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264408" y="1097280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Temporal Trends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64408" y="1389888"/>
            <a:ext cx="24323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Q3: Avg price by quarter each year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Q4: Highest volume quarters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Q10: Nominal interest rate vs price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989320" y="100584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EF9E7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099048" y="1097280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Property Characteristics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99048" y="1389888"/>
            <a:ext cx="24323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Q5: House type with highest avg price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Q6: Room count vs avg price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Q7 &amp; Q9: Build era × house type SQM price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92608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DEDEC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29768" y="3017520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Macro Indicators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9768" y="3310128"/>
            <a:ext cx="24323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Q11: Real interest rate vs SQM price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Q12: Inflation regime vs price levels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Q13: Offer-to-purchase % by region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154680" y="292608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4ECF7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264408" y="3017520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Negotiation Analysis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64408" y="3310128"/>
            <a:ext cx="24323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Q14: Cities with highest negotiation gap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Q15: Negotiation gap by price segment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989320" y="292608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EAFAF1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099048" y="3017520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Investment Screening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099048" y="3310128"/>
            <a:ext cx="24323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Q16: YOY city price growth (window fn)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Q17: Properties 20%+ above city avg SQM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Q18: Best value house type composite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ANALYSIS — KEY RESULTS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Selected SQL Results &amp; Insights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02336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24128"/>
            <a:ext cx="3840480" cy="2606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0" y="960120"/>
            <a:ext cx="42062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024128"/>
            <a:ext cx="4023360" cy="18288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572000" y="3017520"/>
            <a:ext cx="42062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3063240"/>
            <a:ext cx="4023360" cy="171907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65760" y="376732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Era × House Type SQM Price</a:t>
            </a:r>
            <a:endParaRPr lang="en-US" sz="800" dirty="0"/>
          </a:p>
        </p:txBody>
      </p:sp>
      <p:sp>
        <p:nvSpPr>
          <p:cNvPr id="12" name="Text 7"/>
          <p:cNvSpPr/>
          <p:nvPr/>
        </p:nvSpPr>
        <p:spPr>
          <a:xfrm>
            <a:off x="4572000" y="292608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Interest Rate vs Avg SQM Price (recent quarters)</a:t>
            </a:r>
            <a:endParaRPr lang="en-US" sz="800" dirty="0"/>
          </a:p>
        </p:txBody>
      </p:sp>
      <p:sp>
        <p:nvSpPr>
          <p:cNvPr id="13" name="Text 8"/>
          <p:cNvSpPr/>
          <p:nvPr/>
        </p:nvSpPr>
        <p:spPr>
          <a:xfrm>
            <a:off x="4572000" y="4828032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YOY City Price Growth (Aalborg, Aarhus C shown)</a:t>
            </a:r>
            <a:endParaRPr lang="en-US" sz="800" dirty="0"/>
          </a:p>
        </p:txBody>
      </p:sp>
      <p:sp>
        <p:nvSpPr>
          <p:cNvPr id="14" name="Shape 9"/>
          <p:cNvSpPr/>
          <p:nvPr/>
        </p:nvSpPr>
        <p:spPr>
          <a:xfrm>
            <a:off x="365760" y="4005072"/>
            <a:ext cx="4023360" cy="914400"/>
          </a:xfrm>
          <a:prstGeom prst="roundRect">
            <a:avLst>
              <a:gd name="adj" fmla="val 10000"/>
            </a:avLst>
          </a:prstGeom>
          <a:solidFill>
            <a:srgbClr val="FDE8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0"/>
          <p:cNvSpPr/>
          <p:nvPr/>
        </p:nvSpPr>
        <p:spPr>
          <a:xfrm>
            <a:off x="502920" y="4041648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Apartments command highest SQM across ALL build eras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real rates (2021-22) drove peak SQM prices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Aarhus C shows 12–17% YOY growth — top secondary market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DASHBOARD — PAGE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Overview Dashboard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14</a:t>
            </a:r>
            <a:endParaRPr lang="en-US" sz="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60120"/>
            <a:ext cx="5577840" cy="3154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80760" y="960120"/>
            <a:ext cx="2743200" cy="3154680"/>
          </a:xfrm>
          <a:prstGeom prst="roundRect">
            <a:avLst>
              <a:gd name="adj" fmla="val 4000"/>
            </a:avLst>
          </a:prstGeom>
          <a:solidFill>
            <a:srgbClr val="2A0808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263640" y="10515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FINDINGS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263640" y="1371600"/>
            <a:ext cx="2423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100K transactions · DKK 193Bn total value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Villas = 54.2% of all deals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price grew from ~DKK 800K (1992) to ~2.8M (2024)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Jutland leads in volume (50K); Zealand leads in price premium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Rungsted Kyst tops at DKK 6.1M avg — North Shore dominance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negotiation gap: −DKK 42.82K across all transactions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65760" y="42062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Interactive slicers: Year · City · Region · House Type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DASHBOARD — PAGE 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Property Deep Dive Dashboard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14</a:t>
            </a:r>
            <a:endParaRPr lang="en-US" sz="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60120"/>
            <a:ext cx="5577840" cy="3154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80760" y="960120"/>
            <a:ext cx="2743200" cy="3154680"/>
          </a:xfrm>
          <a:prstGeom prst="roundRect">
            <a:avLst>
              <a:gd name="adj" fmla="val 4000"/>
            </a:avLst>
          </a:prstGeom>
          <a:solidFill>
            <a:srgbClr val="2A0808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263640" y="10515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FINDINGS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263640" y="1371600"/>
            <a:ext cx="2423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Farms: highest avg price (DKK 2.74M) but lowest SQM price (DKK 13.8K)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Apartments: highest SQM (DKK 28.7K) with fewest rooms (2.87 avg)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builds: DKK 20.3K/m² vs 70s: DKK 13.5K/m² — 50% premium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Rooms-to-price is near-linear; 15+ rooms average DKK 6M+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Ultra-luxury tier exists across all property types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65760" y="42062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Interactive slicers: Year · Region · City · House Type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DASHBOARD — PAGE 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&amp; Macro Dashboard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14</a:t>
            </a:r>
            <a:endParaRPr lang="en-US" sz="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60120"/>
            <a:ext cx="5577840" cy="3154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80760" y="960120"/>
            <a:ext cx="2743200" cy="3154680"/>
          </a:xfrm>
          <a:prstGeom prst="roundRect">
            <a:avLst>
              <a:gd name="adj" fmla="val 4000"/>
            </a:avLst>
          </a:prstGeom>
          <a:solidFill>
            <a:srgbClr val="2A0808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263640" y="10515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FINDINGS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263640" y="1371600"/>
            <a:ext cx="2423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rate inversely tracks price: neg. rates (2021-22) → price peak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Zealand buyers face −DKK 55K avg gap; Bornholm −DKK 19K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Distressed sales spiked in 2008-09 (GFC) and again post-2020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Winter sales = highest avg price; Summer = lowest volume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Auction properties: DKK 1.47M avg vs regular sale DKK 1.97M (−25%)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Mortgage yield trended near zero (2020) — now rising again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65760" y="42062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Interactive slicers: Year · Region · City · House Type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Key Findings from the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69748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29768" y="1014984"/>
            <a:ext cx="2478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📈  240% price growth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29768" y="1307592"/>
            <a:ext cx="24780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Danish avg property price grew from DKK ~820K (1992) to ~DKK 2.8M (2024)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46120" y="960120"/>
            <a:ext cx="269748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355848" y="1014984"/>
            <a:ext cx="2478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🏠  Villa market dominance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355848" y="1307592"/>
            <a:ext cx="24780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54.2% of all 100K transactions are villas — the backbone of Danish housing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172200" y="960120"/>
            <a:ext cx="269748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281928" y="1014984"/>
            <a:ext cx="2478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🏢  Apartment SQM premium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81928" y="1307592"/>
            <a:ext cx="24780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Apartments command DKK 25,437/m² — highest of all types driven by urban location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002536"/>
            <a:ext cx="269748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29768" y="2057400"/>
            <a:ext cx="2478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🌊  North Zealand leads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29768" y="2350008"/>
            <a:ext cx="24780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Rungsted Kyst, Klampenborg, Nordhavn avg DKK 5.8–6.1M — Copenhagen coast premium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46120" y="2002536"/>
            <a:ext cx="269748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355848" y="2057400"/>
            <a:ext cx="2478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🏗️  Modern build premium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55848" y="2350008"/>
            <a:ext cx="24780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Post-2010 properties are 50%+ more expensive per m² than 70s-era builds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172200" y="2002536"/>
            <a:ext cx="269748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281928" y="2057400"/>
            <a:ext cx="2478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📉  Real rates drive prices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281928" y="2350008"/>
            <a:ext cx="24780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real interest rates (2020–22) directly caused the last price surge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" y="3044952"/>
            <a:ext cx="269748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29768" y="3099816"/>
            <a:ext cx="2478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🚀  2021 Q1 peak activity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29768" y="3392424"/>
            <a:ext cx="24780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2,263 transactions totalling DKK 5.9Bn — highest single quarter in dataset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46120" y="3044952"/>
            <a:ext cx="269748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355848" y="3099816"/>
            <a:ext cx="2478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🤝  64% zero-negotiation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355848" y="3392424"/>
            <a:ext cx="24780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Majority accept asking price; Farm discounts avg −DKK 237K when they occur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172200" y="3044952"/>
            <a:ext cx="269748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281928" y="3099816"/>
            <a:ext cx="2478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🗺️  Zealand most stable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81928" y="3392424"/>
            <a:ext cx="24780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 distressed sale rate (2.10%) — most liquid and demand-healthy region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0040" y="4087368"/>
            <a:ext cx="269748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29768" y="4142232"/>
            <a:ext cx="2478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⚖️  Auction = 25% discount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29768" y="4434840"/>
            <a:ext cx="24780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Auction sales avg DKK 1.47M vs DKK 1.97M regular — systematic value entry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46120" y="4087368"/>
            <a:ext cx="269748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3355848" y="4142232"/>
            <a:ext cx="2478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📊  Aarhus C top growth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355848" y="4434840"/>
            <a:ext cx="24780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12–17% YOY price growth in multiple years — strongest secondary market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172200" y="4087368"/>
            <a:ext cx="269748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281928" y="4142232"/>
            <a:ext cx="2478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🏖️  Summerhouse negotiation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281928" y="4434840"/>
            <a:ext cx="24780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negotiated segment (40.4% see a price gap) — buyers of vacation homes haggle more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RECOMMENDATIONS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Recommendations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2743200" cy="3886200"/>
          </a:xfrm>
          <a:prstGeom prst="roundRect">
            <a:avLst>
              <a:gd name="adj" fmla="val 4000"/>
            </a:avLst>
          </a:prstGeom>
          <a:solidFill>
            <a:srgbClr val="2A0808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75488" y="1051560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💎  Investment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1481328"/>
            <a:ext cx="2523744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 Zealand for core portfolio — lowest distress (2.1%), highest liquidity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Aarhus C &amp; Aalborg for growth-oriented plays (12–17% YOY)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auction pipeline as a 25% discount entry strategy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&amp; 2000s-era properties offer best SQM appreciation trajectory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10128" y="960120"/>
            <a:ext cx="2743200" cy="3886200"/>
          </a:xfrm>
          <a:prstGeom prst="roundRect">
            <a:avLst>
              <a:gd name="adj" fmla="val 4000"/>
            </a:avLst>
          </a:prstGeom>
          <a:solidFill>
            <a:srgbClr val="082A12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19856" y="1051560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💰  Pricing Strategy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19856" y="1481328"/>
            <a:ext cx="2523744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SQM price (not total price) as primary cross-property comparator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8+ room properties are underrepresented — target for premium segment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Negotiate on Villas &amp; Summerhouses (39–40% see negotiation gaps)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Apartments in urban cores: price firmness high, negotiate sparingly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54496" y="960120"/>
            <a:ext cx="2743200" cy="3886200"/>
          </a:xfrm>
          <a:prstGeom prst="roundRect">
            <a:avLst>
              <a:gd name="adj" fmla="val 4000"/>
            </a:avLst>
          </a:prstGeom>
          <a:solidFill>
            <a:srgbClr val="0A1A2A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364224" y="1051560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📡  Macro Timing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64224" y="1481328"/>
            <a:ext cx="2523744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real interest rate as #1 market timing signal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Accelerate acquisition when real rate &lt; 0% (historical price boost)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exposure when real rate &gt; 2–3% (expect price moderation)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Bornholm as core allocation — highest distress (3.97%), low liquidity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kern="0" spc="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157276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Estate Housing Market Analysis — Denmark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11480" y="2148840"/>
            <a:ext cx="1024128" cy="411480"/>
          </a:xfrm>
          <a:prstGeom prst="roundRect">
            <a:avLst>
              <a:gd name="adj" fmla="val 15556"/>
            </a:avLst>
          </a:prstGeom>
          <a:solidFill>
            <a:srgbClr val="2E0A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11480" y="2148840"/>
            <a:ext cx="10241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463040" y="2148840"/>
            <a:ext cx="1024128" cy="411480"/>
          </a:xfrm>
          <a:prstGeom prst="roundRect">
            <a:avLst>
              <a:gd name="adj" fmla="val 15556"/>
            </a:avLst>
          </a:prstGeom>
          <a:solidFill>
            <a:srgbClr val="2E0A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463040" y="2148840"/>
            <a:ext cx="10241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514600" y="2148840"/>
            <a:ext cx="1024128" cy="411480"/>
          </a:xfrm>
          <a:prstGeom prst="roundRect">
            <a:avLst>
              <a:gd name="adj" fmla="val 15556"/>
            </a:avLst>
          </a:prstGeom>
          <a:solidFill>
            <a:srgbClr val="2E0A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514600" y="2148840"/>
            <a:ext cx="10241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Matplotlib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566160" y="2148840"/>
            <a:ext cx="1024128" cy="411480"/>
          </a:xfrm>
          <a:prstGeom prst="roundRect">
            <a:avLst>
              <a:gd name="adj" fmla="val 15556"/>
            </a:avLst>
          </a:prstGeom>
          <a:solidFill>
            <a:srgbClr val="2E0A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566160" y="2148840"/>
            <a:ext cx="10241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17720" y="2148840"/>
            <a:ext cx="1024128" cy="411480"/>
          </a:xfrm>
          <a:prstGeom prst="roundRect">
            <a:avLst>
              <a:gd name="adj" fmla="val 15556"/>
            </a:avLst>
          </a:prstGeom>
          <a:solidFill>
            <a:srgbClr val="2E0A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617720" y="2148840"/>
            <a:ext cx="10241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 Functions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669280" y="2148840"/>
            <a:ext cx="1024128" cy="411480"/>
          </a:xfrm>
          <a:prstGeom prst="roundRect">
            <a:avLst>
              <a:gd name="adj" fmla="val 15556"/>
            </a:avLst>
          </a:prstGeom>
          <a:solidFill>
            <a:srgbClr val="2E0A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669280" y="2148840"/>
            <a:ext cx="10241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720840" y="2148840"/>
            <a:ext cx="1024128" cy="411480"/>
          </a:xfrm>
          <a:prstGeom prst="roundRect">
            <a:avLst>
              <a:gd name="adj" fmla="val 15556"/>
            </a:avLst>
          </a:prstGeom>
          <a:solidFill>
            <a:srgbClr val="2E0A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720840" y="2148840"/>
            <a:ext cx="10241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DAX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772400" y="2148840"/>
            <a:ext cx="1024128" cy="411480"/>
          </a:xfrm>
          <a:prstGeom prst="roundRect">
            <a:avLst>
              <a:gd name="adj" fmla="val 15556"/>
            </a:avLst>
          </a:prstGeom>
          <a:solidFill>
            <a:srgbClr val="2E0A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772400" y="2148840"/>
            <a:ext cx="10241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Storytelling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2834640"/>
            <a:ext cx="8229600" cy="1417320"/>
          </a:xfrm>
          <a:prstGeom prst="roundRect">
            <a:avLst>
              <a:gd name="adj" fmla="val 7742"/>
            </a:avLst>
          </a:prstGeom>
          <a:solidFill>
            <a:srgbClr val="1A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94360" y="2926080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100K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94360" y="3410712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Rows Analyzed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965960" y="2926080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965960" y="3410712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Queries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337560" y="2926080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337560" y="3410712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Pages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709160" y="2926080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4709160" y="3410712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Recs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080760" y="2926080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080760" y="3410712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Engineered Features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452360" y="2926080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 Yrs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452360" y="3410712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Coverage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</a:t>
            </a:r>
            <a:r>
              <a:rPr lang="en-US" sz="1000" i="1" dirty="0" err="1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HayatTXT</a:t>
            </a:r>
            <a:r>
              <a:rPr lang="en-US" sz="10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/real-estate-housing-analysis   ·   Open to Data Analyst roles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2211</Words>
  <Application>Microsoft Office PowerPoint</Application>
  <PresentationFormat>On-screen Show (16:9)</PresentationFormat>
  <Paragraphs>290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Estate Housing Market Analysis</dc:title>
  <dc:subject>PptxGenJS Presentation</dc:subject>
  <dc:creator>PptxGenJS</dc:creator>
  <cp:lastModifiedBy>Hayat Faruquee</cp:lastModifiedBy>
  <cp:revision>2</cp:revision>
  <dcterms:created xsi:type="dcterms:W3CDTF">2026-06-13T02:41:42Z</dcterms:created>
  <dcterms:modified xsi:type="dcterms:W3CDTF">2026-06-13T03:29:51Z</dcterms:modified>
</cp:coreProperties>
</file>